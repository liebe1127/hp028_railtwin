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A6A0"/>
                </a:solidFill>
                <a:latin typeface="Arial"/>
              </a:rPr>
              <a:t>HP028 RailTwin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하부 레일 변형 예측 기반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갠트리 크레인 디지털 트윈 안전관리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8A9BAB"/>
                </a:solidFill>
                <a:latin typeface="Arial"/>
              </a:rPr>
              <a:t>Rail Deformation Prediction for Gantry Crane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A9BAB"/>
                </a:solidFill>
                <a:latin typeface="Arial"/>
              </a:rPr>
              <a:t>Digital Twin Safety Management — Progress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A6A0"/>
                </a:solidFill>
                <a:latin typeface="Arial"/>
              </a:rPr>
              <a:t>진행 현황 브리프  |  Short Status Update  | 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1F33"/>
                </a:solidFill>
                <a:latin typeface="Arial"/>
              </a:rPr>
              <a:t>01  프로젝트 목표  /  Project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A2A3A"/>
                </a:solidFill>
                <a:latin typeface="Arial"/>
              </a:rPr>
              <a:t>주행 시 동적 진동·가속도 데이터로 하부 주행 레일의 미세 변형을 사전에 예측·감지한다.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9BAB"/>
                </a:solidFill>
                <a:latin typeface="Arial"/>
              </a:rPr>
              <a:t>Predict micro-deformation of the lower travel rail from dynamic vibration &amp; acceleration during travel.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832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1AA6A0"/>
                </a:solidFill>
                <a:latin typeface="Arial"/>
              </a:rPr>
              <a:t>단차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8A9BAB"/>
                </a:solidFill>
                <a:latin typeface="Arial"/>
              </a:rPr>
              <a:t>Step / Misalignment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92608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33832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1AA6A0"/>
                </a:solidFill>
                <a:latin typeface="Arial"/>
              </a:rPr>
              <a:t>침하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8A9BAB"/>
                </a:solidFill>
                <a:latin typeface="Arial"/>
              </a:rPr>
              <a:t>Local Settlement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92608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33832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1AA6A0"/>
                </a:solidFill>
                <a:latin typeface="Arial"/>
              </a:rPr>
              <a:t>뒤틀림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8A9BAB"/>
                </a:solidFill>
                <a:latin typeface="Arial"/>
              </a:rPr>
              <a:t>Twist / Warping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5A4A"/>
                </a:solidFill>
                <a:latin typeface="Arial"/>
              </a:rPr>
              <a:t>※ 거더(상단) 처짐이 아님 — Not girder deflection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1F33"/>
                </a:solidFill>
                <a:latin typeface="Arial"/>
              </a:rPr>
              <a:t>02  시스템 아키텍처  / 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920240" cy="21031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Edge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ESP32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센서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554480"/>
            <a:ext cx="1920240" cy="21031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Producer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시리얼/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더미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1920240" cy="21031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Queue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asyncio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554480"/>
            <a:ext cx="1920240" cy="21031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AI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특징공학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+ RBF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554480"/>
            <a:ext cx="1920240" cy="21031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View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Web /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Godot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AA6A0"/>
                </a:solidFill>
                <a:latin typeface="Arial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AA6A0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AA6A0"/>
                </a:solidFill>
                <a:latin typeface="Arial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AA6A0"/>
                </a:solidFill>
                <a:latin typeface="Arial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500" b="1">
                <a:solidFill>
                  <a:srgbClr val="1A2A3A"/>
                </a:solidFill>
                <a:latin typeface="Arial"/>
              </a:rPr>
              <a:t>•  특징 공학: 웨이블릿(sym3) 디노이징 + 파고율(CREST) → 원시값 직접 입력 금지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8A9BAB"/>
                </a:solidFill>
                <a:latin typeface="Arial"/>
              </a:rPr>
              <a:t>    Feature eng.: wavelet denoise + crest factor — no raw sensor dump into the model</a:t>
            </a:r>
          </a:p>
          <a:p>
            <a:pPr>
              <a:spcAft>
                <a:spcPts val="100"/>
              </a:spcAft>
            </a:pPr>
            <a:r>
              <a:rPr sz="1500" b="1">
                <a:solidFill>
                  <a:srgbClr val="1A2A3A"/>
                </a:solidFill>
                <a:latin typeface="Arial"/>
              </a:rPr>
              <a:t>•  출력 키: PRED_RAIL_DEFORM, CREST, distance_x (WebSocket)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8A9BAB"/>
                </a:solidFill>
                <a:latin typeface="Arial"/>
              </a:rPr>
              <a:t>    Output keys: PRED_RAIL_DEFORM, CREST, distance_x via WebSocket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1F33"/>
                </a:solidFill>
                <a:latin typeface="Arial"/>
              </a:rPr>
              <a:t>03  Phase별 진행률  /  Roadmap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A6A0"/>
                </a:solidFill>
                <a:latin typeface="Arial"/>
              </a:rPr>
              <a:t>Phase 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BAB"/>
                </a:solidFill>
                <a:latin typeface="Arial"/>
              </a:rPr>
              <a:t>Sensor &amp; 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63040"/>
            <a:ext cx="5943600" cy="320040"/>
          </a:xfrm>
          <a:prstGeom prst="round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1463040"/>
            <a:ext cx="5052059" cy="320040"/>
          </a:xfrm>
          <a:prstGeom prst="roundRect">
            <a:avLst/>
          </a:prstGeom>
          <a:solidFill>
            <a:srgbClr val="2E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1234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2A3A"/>
                </a:solidFill>
                <a:latin typeface="Arial"/>
              </a:rPr>
              <a:t>코드 완료 / Code done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BAB"/>
                </a:solidFill>
                <a:latin typeface="Arial"/>
              </a:rPr>
              <a:t>실물 검증 남음 / HW validation left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A6A0"/>
                </a:solidFill>
                <a:latin typeface="Arial"/>
              </a:rPr>
              <a:t>Phase 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BAB"/>
                </a:solidFill>
                <a:latin typeface="Arial"/>
              </a:rPr>
              <a:t>Backend Stream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697480"/>
            <a:ext cx="5943600" cy="320040"/>
          </a:xfrm>
          <a:prstGeom prst="round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2697480"/>
            <a:ext cx="4754880" cy="320040"/>
          </a:xfrm>
          <a:prstGeom prst="roundRect">
            <a:avLst/>
          </a:prstGeom>
          <a:solidFill>
            <a:srgbClr val="2E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2468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2A3A"/>
                </a:solidFill>
                <a:latin typeface="Arial"/>
              </a:rPr>
              <a:t>프로토타입 완료 / Prototype done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BAB"/>
                </a:solidFill>
                <a:latin typeface="Arial"/>
              </a:rPr>
              <a:t>MQTT·Redis 향후 / Planned later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A6A0"/>
                </a:solidFill>
                <a:latin typeface="Arial"/>
              </a:rPr>
              <a:t>Phase 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BAB"/>
                </a:solidFill>
                <a:latin typeface="Arial"/>
              </a:rPr>
              <a:t>AI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931920"/>
            <a:ext cx="5943600" cy="320040"/>
          </a:xfrm>
          <a:prstGeom prst="round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43200" y="3931920"/>
            <a:ext cx="3863340" cy="320040"/>
          </a:xfrm>
          <a:prstGeom prst="roundRect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703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2A3A"/>
                </a:solidFill>
                <a:latin typeface="Arial"/>
              </a:rPr>
              <a:t>더미 시연 완료 / Demo verified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BAB"/>
                </a:solidFill>
                <a:latin typeface="Arial"/>
              </a:rPr>
              <a:t>실측 재학습 / Retrain on real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A6A0"/>
                </a:solidFill>
                <a:latin typeface="Arial"/>
              </a:rPr>
              <a:t>Phase 4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BAB"/>
                </a:solidFill>
                <a:latin typeface="Arial"/>
              </a:rPr>
              <a:t>Digital Twin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5166360"/>
            <a:ext cx="5943600" cy="320040"/>
          </a:xfrm>
          <a:prstGeom prst="round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43200" y="5166360"/>
            <a:ext cx="2971800" cy="320040"/>
          </a:xfrm>
          <a:prstGeom prst="roundRect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4937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2A3A"/>
                </a:solidFill>
                <a:latin typeface="Arial"/>
              </a:rPr>
              <a:t>웹+Godot 스크립트 / Web + GDScript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BAB"/>
                </a:solidFill>
                <a:latin typeface="Arial"/>
              </a:rPr>
              <a:t>FBX 씬 연동 / FBX wiring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1F33"/>
                </a:solidFill>
                <a:latin typeface="Arial"/>
              </a:rPr>
              <a:t>04  구현 완료  /  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500" b="1">
                <a:solidFill>
                  <a:srgbClr val="1A2A3A"/>
                </a:solidFill>
                <a:latin typeface="Arial"/>
              </a:rPr>
              <a:t>•  펌웨어: ADXL345 + MPU-6050 + HC-SR04, 0.01g 임계값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8A9BAB"/>
                </a:solidFill>
                <a:latin typeface="Arial"/>
              </a:rPr>
              <a:t>    Firmware with 0.01g motion gate</a:t>
            </a:r>
          </a:p>
          <a:p>
            <a:pPr>
              <a:spcAft>
                <a:spcPts val="100"/>
              </a:spcAft>
            </a:pPr>
            <a:r>
              <a:rPr sz="1500" b="1">
                <a:solidFill>
                  <a:srgbClr val="1A2A3A"/>
                </a:solidFill>
                <a:latin typeface="Arial"/>
              </a:rPr>
              <a:t>•  FastAPI 비동기 Queue → InfluxDB / WebSocket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8A9BAB"/>
                </a:solidFill>
                <a:latin typeface="Arial"/>
              </a:rPr>
              <a:t>    Async queue → InfluxDB / WebSocket</a:t>
            </a:r>
          </a:p>
          <a:p>
            <a:pPr>
              <a:spcAft>
                <a:spcPts val="100"/>
              </a:spcAft>
            </a:pPr>
            <a:r>
              <a:rPr sz="1500" b="1">
                <a:solidFill>
                  <a:srgbClr val="1A2A3A"/>
                </a:solidFill>
                <a:latin typeface="Arial"/>
              </a:rPr>
              <a:t>•  시리얼 없을 때 더미 스트리머(10Hz, 40–50cm 위험구간)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8A9BAB"/>
                </a:solidFill>
                <a:latin typeface="Arial"/>
              </a:rPr>
              <a:t>    Dummy streamer when ESP32 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500" b="1">
                <a:solidFill>
                  <a:srgbClr val="1A2A3A"/>
                </a:solidFill>
                <a:latin typeface="Arial"/>
              </a:rPr>
              <a:t>•  RBF 대리모델 + 웨이블릿·CREST 특징공학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8A9BAB"/>
                </a:solidFill>
                <a:latin typeface="Arial"/>
              </a:rPr>
              <a:t>    RBF surrogate + feature pipeline</a:t>
            </a:r>
          </a:p>
          <a:p>
            <a:pPr>
              <a:spcAft>
                <a:spcPts val="100"/>
              </a:spcAft>
            </a:pPr>
            <a:r>
              <a:rPr sz="1500" b="1">
                <a:solidFill>
                  <a:srgbClr val="1A2A3A"/>
                </a:solidFill>
                <a:latin typeface="Arial"/>
              </a:rPr>
              <a:t>•  웹 대시보드 실시간 표시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8A9BAB"/>
                </a:solidFill>
                <a:latin typeface="Arial"/>
              </a:rPr>
              <a:t>    Live web dashboard</a:t>
            </a:r>
          </a:p>
          <a:p>
            <a:pPr>
              <a:spcAft>
                <a:spcPts val="100"/>
              </a:spcAft>
            </a:pPr>
            <a:r>
              <a:rPr sz="1500" b="1">
                <a:solidFill>
                  <a:srgbClr val="1A2A3A"/>
                </a:solidFill>
                <a:latin typeface="Arial"/>
              </a:rPr>
              <a:t>•  Godot WebSocket 스크립트 (crane/rail path)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8A9BAB"/>
                </a:solidFill>
                <a:latin typeface="Arial"/>
              </a:rPr>
              <a:t>    Godot WS client for twin scene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1F33"/>
                </a:solidFill>
                <a:latin typeface="Arial"/>
              </a:rPr>
              <a:t>05  시연 &amp; 다음 단계  /  Demo &amp;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A6A0"/>
                </a:solidFill>
                <a:latin typeface="Arial"/>
              </a:rPr>
              <a:t>시연 (지금 가능)  /  Demo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A2A3A"/>
                </a:solidFill>
                <a:latin typeface="Arial"/>
              </a:rPr>
              <a:t>•  uvicorn main:app --host 0.0.0.0 --port 8000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8A9BAB"/>
                </a:solidFill>
                <a:latin typeface="Arial"/>
              </a:rPr>
              <a:t>    Start backend (auto demo_mode without ESP32)</a:t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A2A3A"/>
                </a:solidFill>
                <a:latin typeface="Arial"/>
              </a:rPr>
              <a:t>•  CREST 정상 ≈1–1.5 / 위험 ≥5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8A9BAB"/>
                </a:solidFill>
                <a:latin typeface="Arial"/>
              </a:rPr>
              <a:t>    Normal CREST ≈1–1.5 · Danger ≥5</a:t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A2A3A"/>
                </a:solidFill>
                <a:latin typeface="Arial"/>
              </a:rPr>
              <a:t>•  frontend/index.html 또는 Godot /ws 연결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8A9BAB"/>
                </a:solidFill>
                <a:latin typeface="Arial"/>
              </a:rPr>
              <a:t>    Open dashboard or connect Godot to /ws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493776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A6A0"/>
                </a:solidFill>
                <a:latin typeface="Arial"/>
              </a:rPr>
              <a:t>다음 액션  /  Next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1. 실물 ESP32 엔드투엔드 검증</a:t>
            </a:r>
          </a:p>
          <a:p>
            <a:pPr>
              <a:spcAft>
                <a:spcPts val="1200"/>
              </a:spcAft>
            </a:pPr>
            <a:r>
              <a:rPr sz="1200" b="0">
                <a:solidFill>
                  <a:srgbClr val="8A9BAB"/>
                </a:solidFill>
                <a:latin typeface="Arial"/>
              </a:rPr>
              <a:t>End-to-end with real hardware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2. 실측·FEM 데이터로 RBF 재학습</a:t>
            </a:r>
          </a:p>
          <a:p>
            <a:pPr>
              <a:spcAft>
                <a:spcPts val="1200"/>
              </a:spcAft>
            </a:pPr>
            <a:r>
              <a:rPr sz="1200" b="0">
                <a:solidFill>
                  <a:srgbClr val="8A9BAB"/>
                </a:solidFill>
                <a:latin typeface="Arial"/>
              </a:rPr>
              <a:t>Retrain RBF on real / FEM data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3. Godot FBX Crane/Rail Path 연결</a:t>
            </a:r>
          </a:p>
          <a:p>
            <a:pPr>
              <a:spcAft>
                <a:spcPts val="1200"/>
              </a:spcAft>
            </a:pPr>
            <a:r>
              <a:rPr sz="1200" b="0">
                <a:solidFill>
                  <a:srgbClr val="8A9BAB"/>
                </a:solidFill>
                <a:latin typeface="Arial"/>
              </a:rPr>
              <a:t>Wire FBX node paths in Godot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4. MQTT + Redis 무선 파이프라인</a:t>
            </a:r>
          </a:p>
          <a:p>
            <a:pPr>
              <a:spcAft>
                <a:spcPts val="1200"/>
              </a:spcAft>
            </a:pPr>
            <a:r>
              <a:rPr sz="1200" b="0">
                <a:solidFill>
                  <a:srgbClr val="8A9BAB"/>
                </a:solidFill>
                <a:latin typeface="Arial"/>
              </a:rPr>
              <a:t>Migrate to MQTT + Redis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중간 시연 파이프라인은 동작 중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A9BAB"/>
                </a:solidFill>
                <a:latin typeface="Arial"/>
              </a:rPr>
              <a:t>Demo pipeline is live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Edge → AI → Web/Godot 연결까지 프로토타입 완료.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9BAB"/>
                </a:solidFill>
                <a:latin typeface="Arial"/>
              </a:rPr>
              <a:t>Prototype complete from Edge → AI → Web/Godot. Next: real data &amp; 3D scene wiring.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A6A0"/>
                </a:solidFill>
                <a:latin typeface="Arial"/>
              </a:rPr>
              <a:t>HP028 RailTwin  |  github.com/liebe1127/HP028_RailTwin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